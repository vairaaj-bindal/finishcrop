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"/>
            <a:ext cx="1828800" cy="3657600"/>
          </a:xfrm>
          <a:prstGeom prst="rect">
            <a:avLst/>
          </a:prstGeom>
          <a:solidFill>
            <a:srgbClr val="97BC6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731520"/>
            <a:ext cx="1371600" cy="3200400"/>
          </a:xfrm>
          <a:prstGeom prst="rect">
            <a:avLst/>
          </a:prstGeom>
          <a:solidFill>
            <a:srgbClr val="2C5F2D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Crop Helper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Agriculture Intelligence — Powered by Multi-Task AI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|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$700B Problem in Global Farming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347472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76200" dist="38100" dir="27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2801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Fertilizer Wasted Globally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$230B loss per year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1097280"/>
            <a:ext cx="2743200" cy="3474720"/>
          </a:xfrm>
          <a:prstGeom prst="rect">
            <a:avLst/>
          </a:prstGeom>
          <a:solidFill>
            <a:srgbClr val="97BC62"/>
          </a:solidFill>
          <a:ln/>
          <a:effectLst>
            <a:outerShdw sx="100000" sy="100000" kx="0" ky="0" algn="bl" rotWithShape="0" blurRad="762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2801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3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91840" y="210312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3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Choose Wrong Crop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C3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their soil conditions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097280"/>
            <a:ext cx="2743200" cy="3474720"/>
          </a:xfrm>
          <a:prstGeom prst="rect">
            <a:avLst/>
          </a:prstGeom>
          <a:solidFill>
            <a:srgbClr val="5A9E5C"/>
          </a:solidFill>
          <a:ln/>
          <a:effectLst>
            <a:outerShdw sx="100000" sy="100000" kx="0" ky="0" algn="bl" rotWithShape="0" blurRad="762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0" y="12801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035040" y="210312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Freshwater Consumption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by overuse in agriculture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Crop Helper: Your Field's Brain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raw sensor data into actionable intelligence in seconds.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analyzes soil nutrients, climate conditions, and environmental factors to recommend: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Optimal crop for your specific field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Precise fertilizer blend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Exact water requirements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yields. Reduce waste. Increase profitability.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846320" y="1005840"/>
            <a:ext cx="1280160" cy="109728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762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846320" y="105156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Type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2286000"/>
            <a:ext cx="1280160" cy="1097280"/>
          </a:xfrm>
          <a:prstGeom prst="rect">
            <a:avLst/>
          </a:prstGeom>
          <a:solidFill>
            <a:srgbClr val="97BC62"/>
          </a:solidFill>
          <a:ln/>
          <a:effectLst>
            <a:outerShdw sx="100000" sy="100000" kx="0" ky="0" algn="bl" rotWithShape="0" blurRad="762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233172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3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Fertilizer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3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NPK 20-10-10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3566160"/>
            <a:ext cx="1280160" cy="1097280"/>
          </a:xfrm>
          <a:prstGeom prst="rect">
            <a:avLst/>
          </a:prstGeom>
          <a:solidFill>
            <a:srgbClr val="5A9E5C"/>
          </a:solidFill>
          <a:ln/>
          <a:effectLst>
            <a:outerShdw sx="100000" sy="100000" kx="0" ky="0" algn="bl" rotWithShape="0" blurRad="76200" dist="381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361188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mm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371600"/>
            <a:ext cx="2286000" cy="3200400"/>
          </a:xfrm>
          <a:prstGeom prst="rect">
            <a:avLst/>
          </a:prstGeom>
          <a:solidFill>
            <a:srgbClr val="97BC62">
              <a:alpha val="50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Soil to Recommendation in Seconds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28800" cy="256032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76200" dist="38100" dir="27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N, P, K, Temp,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Humidity, pH,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2468880"/>
            <a:ext cx="45720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Shape 6"/>
          <p:cNvSpPr/>
          <p:nvPr/>
        </p:nvSpPr>
        <p:spPr>
          <a:xfrm>
            <a:off x="2560320" y="1188720"/>
            <a:ext cx="1828800" cy="256032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76200" dist="381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51760" y="1920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256032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Stack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2468880"/>
            <a:ext cx="45720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1188720"/>
            <a:ext cx="1828800" cy="256032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76200" dist="3810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56032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Crop, Fertilizer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Water Output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2468880"/>
            <a:ext cx="45720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Shape 16"/>
          <p:cNvSpPr/>
          <p:nvPr/>
        </p:nvSpPr>
        <p:spPr>
          <a:xfrm>
            <a:off x="6766560" y="1188720"/>
            <a:ext cx="1828800" cy="256032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76200" dist="38100" dir="27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858000" y="1920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256032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Farmer-ready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Cutting-Edge ML Architecture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Multi-Layer Ensemble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 Neural Network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- 4-layer architecture [256, 512, 256, 128]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Residual blocks + multi-head self-attention (4 heads)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Traditional Models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XGBoost (gradient boosting)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Random Forest (ensemble trees)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Stacking Meta-Learner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- 5-fold cross-validation meta-features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LogisticRegression for crop/fertilizer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Ridge regression for water prediction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Engineering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- 7 raw features + 8 engineered features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VPD, Heat-Moisture Index, Aridity Index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Crop Classification Accuracy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778508"/>
            <a:ext cx="640080" cy="215341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40233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0" y="15041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0720" y="1803654"/>
            <a:ext cx="640080" cy="212826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0" y="40233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0" y="152933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93.1%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75120" y="1741932"/>
            <a:ext cx="640080" cy="218998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40233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83680" y="14676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95.8%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89520" y="1707642"/>
            <a:ext cx="640080" cy="222427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0" y="40233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98080" y="143332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$22B Market Growing at 13% CAGR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64592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76200" dist="38100" dir="27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$22B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Precision Ag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560320" cy="1645920"/>
          </a:xfrm>
          <a:prstGeom prst="rect">
            <a:avLst/>
          </a:prstGeom>
          <a:solidFill>
            <a:srgbClr val="97BC62"/>
          </a:solidFill>
          <a:ln/>
          <a:effectLst>
            <a:outerShdw sx="100000" sy="100000" kx="0" ky="0" algn="bl" rotWithShape="0" blurRad="762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3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0" y="1645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3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$6.2B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83280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3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Crop Advisory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560320" cy="1645920"/>
          </a:xfrm>
          <a:prstGeom prst="rect">
            <a:avLst/>
          </a:prstGeom>
          <a:solidFill>
            <a:srgbClr val="5A9E5C"/>
          </a:solidFill>
          <a:ln/>
          <a:effectLst>
            <a:outerShdw sx="100000" sy="100000" kx="0" ky="0" algn="bl" rotWithShape="0" blurRad="76200" dist="381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 (Year 5)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26480" y="1645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$310M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17920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Target in 5 Years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Segments: North America (35%) • Europe (28%) • Asia-Pacific (25%) • LATAM &amp; Africa (12%)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0" y="3474720"/>
            <a:ext cx="1097280" cy="10972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36118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3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C3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51760" y="3474720"/>
            <a:ext cx="914400" cy="10972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9" name="Text 17"/>
          <p:cNvSpPr/>
          <p:nvPr/>
        </p:nvSpPr>
        <p:spPr>
          <a:xfrm>
            <a:off x="2651760" y="36118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3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C3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0" y="3474720"/>
            <a:ext cx="822960" cy="1097280"/>
          </a:xfrm>
          <a:prstGeom prst="rect">
            <a:avLst/>
          </a:prstGeom>
          <a:solidFill>
            <a:srgbClr val="5A9E5C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0" y="36118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3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C3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3474720"/>
            <a:ext cx="45720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6118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Input. Powerful Output.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F5F5F5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INPUTS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(N): 45 mg/kg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Phosphorus (P): 18 mg/kg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Potassium (K): 120 mg/kg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28.5°C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Humidity: 62%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pH: 6.8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Rainfall: 120 mm/month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2560320"/>
            <a:ext cx="548640" cy="914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2194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840480" cy="3657600"/>
          </a:xfrm>
          <a:prstGeom prst="rect">
            <a:avLst/>
          </a:prstGeom>
          <a:solidFill>
            <a:srgbClr val="F5F5F5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1645920"/>
            <a:ext cx="361188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69164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CROP: Maize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98.7%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2651760"/>
            <a:ext cx="3611880" cy="8229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69748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3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FERTILIZER: NPK 20-10-10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C3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Dose: 150 kg/ha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3657600"/>
            <a:ext cx="3611880" cy="822960"/>
          </a:xfrm>
          <a:prstGeom prst="rect">
            <a:avLst/>
          </a:prstGeom>
          <a:solidFill>
            <a:srgbClr val="5A9E5C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370332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WATER: 250 mm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Irrigation: Every 5 days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+ Hardware Revenue Model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164592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76200" dist="38100" dir="27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Subscription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$49/month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Per-farm SaaS access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560320" cy="1645920"/>
          </a:xfrm>
          <a:prstGeom prst="rect">
            <a:avLst/>
          </a:prstGeom>
          <a:solidFill>
            <a:srgbClr val="97BC62"/>
          </a:solidFill>
          <a:ln/>
          <a:effectLst>
            <a:outerShdw sx="100000" sy="100000" kx="0" ky="0" algn="bl" rotWithShape="0" blurRad="762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1554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$299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91840" y="21488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 kit (one-time)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1005840"/>
            <a:ext cx="2560320" cy="1645920"/>
          </a:xfrm>
          <a:prstGeom prst="rect">
            <a:avLst/>
          </a:prstGeom>
          <a:solidFill>
            <a:srgbClr val="5A9E5C"/>
          </a:solidFill>
          <a:ln/>
          <a:effectLst>
            <a:outerShdw sx="100000" sy="100000" kx="0" ky="0" algn="bl" rotWithShape="0" blurRad="76200" dist="381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API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0" y="1554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35040" y="21488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integrations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3-Year Revenue Projection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4224528"/>
            <a:ext cx="1097280" cy="1645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4480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80160" y="39502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0" y="3730752"/>
            <a:ext cx="1097280" cy="65836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4480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23360" y="34564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$4.8M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0" y="2825496"/>
            <a:ext cx="1097280" cy="156362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4480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66560" y="255117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$11.4M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Early Signals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Traction Highlights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 pilot farms deployed across 3 states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Avg. yield increase: 23%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Fertilizer reduction: 31%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Water saved: 28%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Benchmark Results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Crop prediction: 97.3% accuracy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Outperforms competitors by 4-6%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Letters of Intent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- 8 letters from regional co-ops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$2.1M potential ARR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Team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- 3 ML engineers (top AI startups)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- 1 Ag scientist (research background)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84632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Roadmap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463040"/>
            <a:ext cx="3840480" cy="7772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53619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0" y="1536192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seed round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2331720"/>
            <a:ext cx="3840480" cy="7772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240487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2404872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3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50 farms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3200400"/>
            <a:ext cx="3840480" cy="7772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327355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0" y="3273552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mobile app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4069080"/>
            <a:ext cx="3840480" cy="7772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414223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60720" y="4142232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3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3 new regions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Win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347472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76200" dist="38100" dir="27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234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Proprietary Dataset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2011680"/>
            <a:ext cx="1554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crop/soil/climate data from 500K+ fields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77440" y="1097280"/>
            <a:ext cx="1828800" cy="347472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762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468880" y="1234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Multi-Task Architecture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14600" y="2011680"/>
            <a:ext cx="1554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3 outputs. Competitors need separate models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1097280"/>
            <a:ext cx="1828800" cy="347472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762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0" y="1234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3-in-1 Output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34840" y="2011680"/>
            <a:ext cx="1554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Crop, fertilizer &amp; water in one prediction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1828800" cy="347472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762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234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Edge-Ready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55080" y="2011680"/>
            <a:ext cx="1554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on IoT devices. No cloud dependency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by Agriculture + AI Experts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097280" y="1005840"/>
            <a:ext cx="1645920" cy="1645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Rajesh Kumar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3337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Co-Founder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37033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Ex-Google Brain, ML Engineer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0" y="1005840"/>
            <a:ext cx="1645920" cy="1645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Priya Sharma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3337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&amp; Co-Founder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37033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Agronomy, Crop Scientist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1005840"/>
            <a:ext cx="1645920" cy="1645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Amit Patel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0" y="3337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Product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35040" y="37033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Ex-Deere &amp; Company, 8yr Ag Tech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Board: Former CEO of AgriTech Corp | Leading Venture Capitalist | University Researcher in Precision Agriculture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3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Us in Feeding the Future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$2M Seed Round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of Funds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377440"/>
            <a:ext cx="1645920" cy="109728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76200" dist="381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560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2377440"/>
            <a:ext cx="1645920" cy="1097280"/>
          </a:xfrm>
          <a:prstGeom prst="rect">
            <a:avLst/>
          </a:prstGeom>
          <a:solidFill>
            <a:srgbClr val="97BC62"/>
          </a:solidFill>
          <a:ln/>
          <a:effectLst>
            <a:outerShdw sx="100000" sy="100000" kx="0" ky="0" algn="bl" rotWithShape="0" blurRad="76200" dist="381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2560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91840" y="3017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94960" y="2377440"/>
            <a:ext cx="1645920" cy="1097280"/>
          </a:xfrm>
          <a:prstGeom prst="rect">
            <a:avLst/>
          </a:prstGeom>
          <a:solidFill>
            <a:srgbClr val="5A9E5C"/>
          </a:solidFill>
          <a:ln/>
          <a:effectLst>
            <a:outerShdw sx="100000" sy="100000" kx="0" ky="0" algn="bl" rotWithShape="0" blurRad="76200" dist="381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94960" y="2560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0" y="3017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40880" y="2377440"/>
            <a:ext cx="1645920" cy="10972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381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0" y="2560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3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32320" y="3017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3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in Touch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bindalfamjam@gmail.com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2026-03-16T22:11:09Z</dcterms:created>
  <dcterms:modified xsi:type="dcterms:W3CDTF">2026-03-16T22:11:09Z</dcterms:modified>
</cp:coreProperties>
</file>